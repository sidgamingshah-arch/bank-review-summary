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B1740"/>
          </a:solidFill>
          <a:ln w="12700">
            <a:solidFill>
              <a:srgbClr val="1B1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" y="5120640"/>
            <a:ext cx="12374575" cy="1828800"/>
          </a:xfrm>
          <a:prstGeom prst="rect">
            <a:avLst/>
          </a:prstGeom>
          <a:solidFill>
            <a:srgbClr val="4A39CF"/>
          </a:solidFill>
          <a:ln w="12700">
            <a:solidFill>
              <a:srgbClr val="4A3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B9AFFF"/>
                </a:solidFill>
                <a:latin typeface="Consolas"/>
              </a:rPr>
              <a:t>TECHNICAL ARCHITECTURE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5200" b="1">
                <a:solidFill>
                  <a:srgbClr val="FFFFFF"/>
                </a:solidFill>
                <a:latin typeface="Segoe UI"/>
              </a:rPr>
              <a:t>CAM Platform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800" b="0">
                <a:solidFill>
                  <a:srgbClr val="CFCBF0"/>
                </a:solidFill>
                <a:latin typeface="Segoe UI"/>
              </a:rPr>
              <a:t>AI-Assisted Credit Assessment Memo generation — how the product works, end to 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4864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9 services   ·   5 data planes   ·   4-agent pipeline per section   ·   5 versioned master types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100" b="0">
                <a:solidFill>
                  <a:srgbClr val="D9D5F5"/>
                </a:solidFill>
                <a:latin typeface="Segoe UI"/>
              </a:rPr>
              <a:t>Companion to docs/architecture.md · contracts.md · traceability.md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5F5FB"/>
          </a:solidFill>
          <a:ln w="12700">
            <a:solidFill>
              <a:srgbClr val="F5F5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5A48E0"/>
          </a:solidFill>
          <a:ln w="12700">
            <a:solidFill>
              <a:srgbClr val="5A4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5A48E0"/>
                </a:solidFill>
                <a:latin typeface="Consolas"/>
              </a:rPr>
              <a:t>MENTAL MODEL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2700" b="1">
                <a:solidFill>
                  <a:srgbClr val="1B1740"/>
                </a:solidFill>
                <a:latin typeface="Segoe UI"/>
              </a:rPr>
              <a:t>How it fits together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56616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A48E0"/>
                </a:solidFill>
                <a:latin typeface="Segoe UI"/>
              </a:rPr>
              <a:t>Config &gt; code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050" b="0">
                <a:solidFill>
                  <a:srgbClr val="423D63"/>
                </a:solidFill>
                <a:latin typeface="Segoe UI"/>
              </a:rPr>
              <a:t>Prompts, KPIs, templates and doctypes are business-authored masters — the bank evolves the product without a vendor release.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554480"/>
            <a:ext cx="356616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A48E0"/>
                </a:solidFill>
                <a:latin typeface="Segoe UI"/>
              </a:rPr>
              <a:t>One door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050" b="0">
                <a:solidFill>
                  <a:srgbClr val="423D63"/>
                </a:solidFill>
                <a:latin typeface="Segoe UI"/>
              </a:rPr>
              <a:t>Every cross-component call traverses the gateway (the APIM stand-in): authN, throttling, correlation, access logs.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554480"/>
            <a:ext cx="356616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A48E0"/>
                </a:solidFill>
                <a:latin typeface="Segoe UI"/>
              </a:rPr>
              <a:t>Closed model plane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050" b="0">
                <a:solidFill>
                  <a:srgbClr val="423D63"/>
                </a:solidFill>
                <a:latin typeface="Segoe UI"/>
              </a:rPr>
              <a:t>Only service identities reach </a:t>
            </a:r>
            <a:r>
              <a:rPr sz="1050" b="0">
                <a:solidFill>
                  <a:srgbClr val="423D63"/>
                </a:solidFill>
                <a:latin typeface="Consolas"/>
              </a:rPr>
              <a:t>/api/genai</a:t>
            </a:r>
            <a:r>
              <a:rPr sz="1050" b="0">
                <a:solidFill>
                  <a:srgbClr val="423D63"/>
                </a:solidFill>
                <a:latin typeface="Segoe UI"/>
              </a:rPr>
              <a:t>; the SPA can never reach a model endpoint (NFR-10).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90088"/>
            <a:ext cx="356616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A48E0"/>
                </a:solidFill>
                <a:latin typeface="Segoe UI"/>
              </a:rPr>
              <a:t>Reproducible by snapshot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050" b="0">
                <a:solidFill>
                  <a:srgbClr val="423D63"/>
                </a:solidFill>
                <a:latin typeface="Segoe UI"/>
              </a:rPr>
              <a:t>A run freezes master versions, preferences, the resolved bundle and external context — replay is deterministic.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990088"/>
            <a:ext cx="356616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A48E0"/>
                </a:solidFill>
                <a:latin typeface="Segoe UI"/>
              </a:rPr>
              <a:t>Grounded, not fabricated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050" b="0">
                <a:solidFill>
                  <a:srgbClr val="423D63"/>
                </a:solidFill>
                <a:latin typeface="Segoe UI"/>
              </a:rPr>
              <a:t>Sections draft only from attributed source facts; a deterministic backstop flags untraceable numbers/dates.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2990088"/>
            <a:ext cx="356616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A48E0"/>
                </a:solidFill>
                <a:latin typeface="Segoe UI"/>
              </a:rPr>
              <a:t>Auditable end to end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050" b="0">
                <a:solidFill>
                  <a:srgbClr val="423D63"/>
                </a:solidFill>
                <a:latin typeface="Segoe UI"/>
              </a:rPr>
              <a:t>Hash-chained audit events + one correlation id span upload → generation → edit → export.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36E93"/>
                </a:solidFill>
                <a:latin typeface="Consolas"/>
              </a:rPr>
              <a:t>CAM Platform · Technical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5F5FB"/>
          </a:solidFill>
          <a:ln w="12700">
            <a:solidFill>
              <a:srgbClr val="F5F5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5A48E0"/>
          </a:solidFill>
          <a:ln w="12700">
            <a:solidFill>
              <a:srgbClr val="5A4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5A48E0"/>
                </a:solidFill>
                <a:latin typeface="Consolas"/>
              </a:rPr>
              <a:t>COMPONENT VIEW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2700" b="1">
                <a:solidFill>
                  <a:srgbClr val="1B1740"/>
                </a:solidFill>
                <a:latin typeface="Segoe UI"/>
              </a:rPr>
              <a:t>Topology — 9 services behind one gateway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736E93"/>
                </a:solidFill>
                <a:latin typeface="Segoe UI"/>
              </a:rPr>
              <a:t>Dotted arrows are out-of-gateway egress. Ports shown are the local-dev layout.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8288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B1740"/>
                </a:solidFill>
                <a:latin typeface="Segoe UI"/>
              </a:rPr>
              <a:t>React SPA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1600200"/>
            <a:ext cx="2743200" cy="685800"/>
          </a:xfrm>
          <a:prstGeom prst="roundRect">
            <a:avLst/>
          </a:prstGeom>
          <a:solidFill>
            <a:srgbClr val="5A48E0"/>
          </a:solidFill>
          <a:ln w="12700">
            <a:solidFill>
              <a:srgbClr val="4A3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Gateway :8080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E5E1FF"/>
                </a:solidFill>
                <a:latin typeface="Segoe UI"/>
              </a:rPr>
              <a:t>authN · routing · serves SPA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60320" y="1938528"/>
            <a:ext cx="548640" cy="0"/>
          </a:xfrm>
          <a:prstGeom prst="line">
            <a:avLst/>
          </a:prstGeom>
          <a:ln w="22225">
            <a:solidFill>
              <a:srgbClr val="5A48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31520" y="2788920"/>
            <a:ext cx="1828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B1740"/>
                </a:solidFill>
                <a:latin typeface="Segoe UI"/>
              </a:rPr>
              <a:t>auth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736E93"/>
                </a:solidFill>
                <a:latin typeface="Consolas"/>
              </a:rPr>
              <a:t>:8101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24912" y="2788920"/>
            <a:ext cx="1828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B1740"/>
                </a:solidFill>
                <a:latin typeface="Segoe UI"/>
              </a:rPr>
              <a:t>master-config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736E93"/>
                </a:solidFill>
                <a:latin typeface="Consolas"/>
              </a:rPr>
              <a:t>:8102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18304" y="2788920"/>
            <a:ext cx="1828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B1740"/>
                </a:solidFill>
                <a:latin typeface="Segoe UI"/>
              </a:rPr>
              <a:t>document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736E93"/>
                </a:solidFill>
                <a:latin typeface="Consolas"/>
              </a:rPr>
              <a:t>:8103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11696" y="2788920"/>
            <a:ext cx="1828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B1740"/>
                </a:solidFill>
                <a:latin typeface="Segoe UI"/>
              </a:rPr>
              <a:t>tagging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736E93"/>
                </a:solidFill>
                <a:latin typeface="Consolas"/>
              </a:rPr>
              <a:t>:8104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57015"/>
            <a:ext cx="1828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5A48E0"/>
                </a:solidFill>
                <a:latin typeface="Segoe UI"/>
              </a:rPr>
              <a:t>orchestration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736E93"/>
                </a:solidFill>
                <a:latin typeface="Consolas"/>
              </a:rPr>
              <a:t>:8105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24912" y="3557015"/>
            <a:ext cx="1828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5A48E0"/>
                </a:solidFill>
                <a:latin typeface="Segoe UI"/>
              </a:rPr>
              <a:t>genai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736E93"/>
                </a:solidFill>
                <a:latin typeface="Consolas"/>
              </a:rPr>
              <a:t>:8106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18304" y="3557015"/>
            <a:ext cx="1828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B1740"/>
                </a:solidFill>
                <a:latin typeface="Segoe UI"/>
              </a:rPr>
              <a:t>output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736E93"/>
                </a:solidFill>
                <a:latin typeface="Consolas"/>
              </a:rPr>
              <a:t>:8107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11696" y="3557015"/>
            <a:ext cx="1828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B1740"/>
                </a:solidFill>
                <a:latin typeface="Segoe UI"/>
              </a:rPr>
              <a:t>audit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736E93"/>
                </a:solidFill>
                <a:latin typeface="Consolas"/>
              </a:rPr>
              <a:t>:8108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480560" y="2286000"/>
            <a:ext cx="0" cy="502920"/>
          </a:xfrm>
          <a:prstGeom prst="line">
            <a:avLst/>
          </a:prstGeom>
          <a:ln w="22225">
            <a:solidFill>
              <a:srgbClr val="5A48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052560" y="2788920"/>
            <a:ext cx="2651760" cy="566928"/>
          </a:xfrm>
          <a:prstGeom prst="roundRect">
            <a:avLst/>
          </a:prstGeom>
          <a:solidFill>
            <a:srgbClr val="EFECFD"/>
          </a:solidFill>
          <a:ln w="12700">
            <a:solidFill>
              <a:srgbClr val="5A4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4A39CF"/>
                </a:solidFill>
                <a:latin typeface="Segoe UI"/>
              </a:rPr>
              <a:t>Model endpoint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3557016"/>
            <a:ext cx="2651760" cy="566928"/>
          </a:xfrm>
          <a:prstGeom prst="roundRect">
            <a:avLst/>
          </a:prstGeom>
          <a:solidFill>
            <a:srgbClr val="FBF0DA"/>
          </a:solidFill>
          <a:ln w="12700">
            <a:solidFill>
              <a:srgbClr val="A969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A9690A"/>
                </a:solidFill>
                <a:latin typeface="Segoe UI"/>
              </a:rPr>
              <a:t>Connectors (3rd-party)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4325112"/>
            <a:ext cx="2651760" cy="566928"/>
          </a:xfrm>
          <a:prstGeom prst="roundRect">
            <a:avLst/>
          </a:prstGeom>
          <a:solidFill>
            <a:srgbClr val="F5F5FB"/>
          </a:solidFill>
          <a:ln w="12700">
            <a:solidFill>
              <a:srgbClr val="D6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423D63"/>
                </a:solidFill>
                <a:latin typeface="Segoe UI"/>
              </a:rPr>
              <a:t>Blob + PostgreSQL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540496" y="3072384"/>
            <a:ext cx="512064" cy="0"/>
          </a:xfrm>
          <a:prstGeom prst="line">
            <a:avLst/>
          </a:prstGeom>
          <a:ln w="22225">
            <a:solidFill>
              <a:srgbClr val="5A48E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540496" y="3840480"/>
            <a:ext cx="512064" cy="0"/>
          </a:xfrm>
          <a:prstGeom prst="line">
            <a:avLst/>
          </a:prstGeom>
          <a:ln w="22225">
            <a:solidFill>
              <a:srgbClr val="A9690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540496" y="4608576"/>
            <a:ext cx="512064" cy="0"/>
          </a:xfrm>
          <a:prstGeom prst="line">
            <a:avLst/>
          </a:prstGeom>
          <a:ln w="22225">
            <a:solidFill>
              <a:srgbClr val="736E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1520" y="52578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736E93"/>
                </a:solidFill>
                <a:latin typeface="Segoe UI"/>
              </a:rPr>
              <a:t>Same image per service in containers; the gateway also serves the built SPA, so the whole app is one origin.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36E93"/>
                </a:solidFill>
                <a:latin typeface="Consolas"/>
              </a:rPr>
              <a:t>CAM Platform · Technical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5F5FB"/>
          </a:solidFill>
          <a:ln w="12700">
            <a:solidFill>
              <a:srgbClr val="F5F5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5A48E0"/>
          </a:solidFill>
          <a:ln w="12700">
            <a:solidFill>
              <a:srgbClr val="5A4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5A48E0"/>
                </a:solidFill>
                <a:latin typeface="Consolas"/>
              </a:rPr>
              <a:t>SECURITY BACKBONE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2700" b="1">
                <a:solidFill>
                  <a:srgbClr val="1B1740"/>
                </a:solidFill>
                <a:latin typeface="Segoe UI"/>
              </a:rPr>
              <a:t>The five data planes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736E93"/>
                </a:solidFill>
                <a:latin typeface="Segoe UI"/>
              </a:rPr>
              <a:t>Each arrow in the topology belongs to one plane, with its own trust and egress rules.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37360"/>
          <a:ext cx="10698480" cy="21945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54480"/>
                <a:gridCol w="2286000"/>
                <a:gridCol w="2468880"/>
                <a:gridCol w="2468880"/>
                <a:gridCol w="19202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Plane</a:t>
                      </a:r>
                    </a:p>
                  </a:txBody>
                  <a:tcPr marL="88900" marR="88900" marT="38100" marB="38100" anchor="ctr">
                    <a:solidFill>
                      <a:srgbClr val="5A48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Initiator</a:t>
                      </a:r>
                    </a:p>
                  </a:txBody>
                  <a:tcPr marL="88900" marR="88900" marT="38100" marB="38100" anchor="ctr">
                    <a:solidFill>
                      <a:srgbClr val="5A48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Path</a:t>
                      </a:r>
                    </a:p>
                  </a:txBody>
                  <a:tcPr marL="88900" marR="88900" marT="38100" marB="38100" anchor="ctr">
                    <a:solidFill>
                      <a:srgbClr val="5A48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Auth carried</a:t>
                      </a:r>
                    </a:p>
                  </a:txBody>
                  <a:tcPr marL="88900" marR="88900" marT="38100" marB="38100" anchor="ctr">
                    <a:solidFill>
                      <a:srgbClr val="5A48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Egress</a:t>
                      </a:r>
                    </a:p>
                  </a:txBody>
                  <a:tcPr marL="88900" marR="88900" marT="38100" marB="38100" anchor="ctr">
                    <a:solidFill>
                      <a:srgbClr val="5A48E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23D63"/>
                          </a:solidFill>
                          <a:latin typeface="Segoe UI"/>
                        </a:rPr>
                        <a:t>Control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23D63"/>
                          </a:solidFill>
                          <a:latin typeface="Segoe UI"/>
                        </a:rPr>
                        <a:t>SPA → services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23D63"/>
                          </a:solidFill>
                          <a:latin typeface="Segoe UI"/>
                        </a:rPr>
                        <a:t>via gateway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23D63"/>
                          </a:solidFill>
                          <a:latin typeface="Segoe UI"/>
                        </a:rPr>
                        <a:t>end-user JWT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23D63"/>
                          </a:solidFill>
                          <a:latin typeface="Segoe UI"/>
                        </a:rPr>
                        <a:t>internal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23D63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marL="88900" marR="88900" marT="38100" marB="38100" anchor="ctr">
                    <a:solidFill>
                      <a:srgbClr val="F5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23D63"/>
                          </a:solidFill>
                          <a:latin typeface="Segoe UI"/>
                        </a:rPr>
                        <a:t>services → genai</a:t>
                      </a:r>
                    </a:p>
                  </a:txBody>
                  <a:tcPr marL="88900" marR="88900" marT="38100" marB="38100" anchor="ctr">
                    <a:solidFill>
                      <a:srgbClr val="F5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23D63"/>
                          </a:solidFill>
                          <a:latin typeface="Segoe UI"/>
                        </a:rPr>
                        <a:t>via gateway</a:t>
                      </a:r>
                    </a:p>
                  </a:txBody>
                  <a:tcPr marL="88900" marR="88900" marT="38100" marB="38100" anchor="ctr">
                    <a:solidFill>
                      <a:srgbClr val="F5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23D63"/>
                          </a:solidFill>
                          <a:latin typeface="Segoe UI"/>
                        </a:rPr>
                        <a:t>service token ONLY</a:t>
                      </a:r>
                    </a:p>
                  </a:txBody>
                  <a:tcPr marL="88900" marR="88900" marT="38100" marB="38100" anchor="ctr">
                    <a:solidFill>
                      <a:srgbClr val="F5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23D63"/>
                          </a:solidFill>
                          <a:latin typeface="Segoe UI"/>
                        </a:rPr>
                        <a:t>genai → LLM</a:t>
                      </a:r>
                    </a:p>
                  </a:txBody>
                  <a:tcPr marL="88900" marR="88900" marT="38100" marB="38100" anchor="ctr">
                    <a:solidFill>
                      <a:srgbClr val="F5F5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23D63"/>
                          </a:solidFill>
                          <a:latin typeface="Segoe UI"/>
                        </a:rPr>
                        <a:t>Retrieval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23D63"/>
                          </a:solidFill>
                          <a:latin typeface="Segoe UI"/>
                        </a:rPr>
                        <a:t>document svc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23D63"/>
                          </a:solidFill>
                          <a:latin typeface="Segoe UI"/>
                        </a:rPr>
                        <a:t>to embed / search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23D63"/>
                          </a:solidFill>
                          <a:latin typeface="Segoe UI"/>
                        </a:rPr>
                        <a:t>backend key (env)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23D63"/>
                          </a:solidFill>
                          <a:latin typeface="Segoe UI"/>
                        </a:rPr>
                        <a:t>embeddings / index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23D63"/>
                          </a:solidFill>
                          <a:latin typeface="Segoe UI"/>
                        </a:rPr>
                        <a:t>Connector</a:t>
                      </a:r>
                    </a:p>
                  </a:txBody>
                  <a:tcPr marL="88900" marR="88900" marT="38100" marB="38100" anchor="ctr">
                    <a:solidFill>
                      <a:srgbClr val="F5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23D63"/>
                          </a:solidFill>
                          <a:latin typeface="Segoe UI"/>
                        </a:rPr>
                        <a:t>orchestration</a:t>
                      </a:r>
                    </a:p>
                  </a:txBody>
                  <a:tcPr marL="88900" marR="88900" marT="38100" marB="38100" anchor="ctr">
                    <a:solidFill>
                      <a:srgbClr val="F5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23D63"/>
                          </a:solidFill>
                          <a:latin typeface="Segoe UI"/>
                        </a:rPr>
                        <a:t>direct, out-of-gateway</a:t>
                      </a:r>
                    </a:p>
                  </a:txBody>
                  <a:tcPr marL="88900" marR="88900" marT="38100" marB="38100" anchor="ctr">
                    <a:solidFill>
                      <a:srgbClr val="F5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23D63"/>
                          </a:solidFill>
                          <a:latin typeface="Segoe UI"/>
                        </a:rPr>
                        <a:t>connector key ONLY</a:t>
                      </a:r>
                    </a:p>
                  </a:txBody>
                  <a:tcPr marL="88900" marR="88900" marT="38100" marB="38100" anchor="ctr">
                    <a:solidFill>
                      <a:srgbClr val="F5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23D63"/>
                          </a:solidFill>
                          <a:latin typeface="Segoe UI"/>
                        </a:rPr>
                        <a:t>third-party feeds</a:t>
                      </a:r>
                    </a:p>
                  </a:txBody>
                  <a:tcPr marL="88900" marR="88900" marT="38100" marB="38100" anchor="ctr">
                    <a:solidFill>
                      <a:srgbClr val="F5F5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23D63"/>
                          </a:solidFill>
                          <a:latin typeface="Segoe UI"/>
                        </a:rPr>
                        <a:t>Storage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23D63"/>
                          </a:solidFill>
                          <a:latin typeface="Segoe UI"/>
                        </a:rPr>
                        <a:t>document svc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23D63"/>
                          </a:solidFill>
                          <a:latin typeface="Segoe UI"/>
                        </a:rPr>
                        <a:t>adapter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23D63"/>
                          </a:solidFill>
                          <a:latin typeface="Segoe UI"/>
                        </a:rPr>
                        <a:t>conn string (env)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23D63"/>
                          </a:solidFill>
                          <a:latin typeface="Segoe UI"/>
                        </a:rPr>
                        <a:t>blob store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846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423D63"/>
                </a:solidFill>
                <a:latin typeface="Segoe UI"/>
              </a:rPr>
              <a:t>The connector plane is deliberately credential-isolated: a third-party vendor never receives the internal service token.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36E93"/>
                </a:solidFill>
                <a:latin typeface="Consolas"/>
              </a:rPr>
              <a:t>CAM Platform · Technical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5F5FB"/>
          </a:solidFill>
          <a:ln w="12700">
            <a:solidFill>
              <a:srgbClr val="F5F5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5A48E0"/>
          </a:solidFill>
          <a:ln w="12700">
            <a:solidFill>
              <a:srgbClr val="5A4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5A48E0"/>
                </a:solidFill>
                <a:latin typeface="Consolas"/>
              </a:rPr>
              <a:t>CONFIGURATION OVER CODE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2700" b="1">
                <a:solidFill>
                  <a:srgbClr val="1B1740"/>
                </a:solidFill>
                <a:latin typeface="Segoe UI"/>
              </a:rPr>
              <a:t>Business logic lives in versioned masters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69494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A48E0"/>
                </a:solidFill>
                <a:latin typeface="Segoe UI"/>
              </a:rPr>
              <a:t>Templates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00" b="0">
                <a:solidFill>
                  <a:srgbClr val="423D63"/>
                </a:solidFill>
                <a:latin typeface="Segoe UI"/>
              </a:rPr>
              <a:t>Ordered sections; conditional, fixed-format, depends_on, uses_external_context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50008"/>
            <a:ext cx="69494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A48E0"/>
                </a:solidFill>
                <a:latin typeface="Segoe UI"/>
              </a:rPr>
              <a:t>Section prompts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00" b="0">
                <a:solidFill>
                  <a:srgbClr val="423D63"/>
                </a:solidFill>
                <a:latin typeface="Segoe UI"/>
              </a:rPr>
              <a:t>Per-section instructions · </a:t>
            </a:r>
            <a:r>
              <a:rPr sz="1100" b="0">
                <a:solidFill>
                  <a:srgbClr val="423D63"/>
                </a:solidFill>
                <a:latin typeface="Consolas"/>
              </a:rPr>
              <a:t>{{placeholders}}</a:t>
            </a:r>
            <a:r>
              <a:rPr sz="1100" b="0">
                <a:solidFill>
                  <a:srgbClr val="423D63"/>
                </a:solidFill>
                <a:latin typeface="Segoe UI"/>
              </a:rPr>
              <a:t> · </a:t>
            </a:r>
            <a:r>
              <a:rPr sz="1100" b="0">
                <a:solidFill>
                  <a:srgbClr val="423D63"/>
                </a:solidFill>
                <a:latin typeface="Consolas"/>
              </a:rPr>
              <a:t>{{industry_kpis}}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99815"/>
            <a:ext cx="69494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A48E0"/>
                </a:solidFill>
                <a:latin typeface="Segoe UI"/>
              </a:rPr>
              <a:t>Standing rules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00" b="0">
                <a:solidFill>
                  <a:srgbClr val="423D63"/>
                </a:solidFill>
                <a:latin typeface="Segoe UI"/>
              </a:rPr>
              <a:t>House style + guardrails prepended to every prompt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9624"/>
            <a:ext cx="69494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A48E0"/>
                </a:solidFill>
                <a:latin typeface="Segoe UI"/>
              </a:rPr>
              <a:t>Document types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00" b="0">
                <a:solidFill>
                  <a:srgbClr val="423D63"/>
                </a:solidFill>
                <a:latin typeface="Segoe UI"/>
              </a:rPr>
              <a:t>Doctypes for classification + section mapping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99431"/>
            <a:ext cx="69494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A48E0"/>
                </a:solidFill>
                <a:latin typeface="Segoe UI"/>
              </a:rPr>
              <a:t>KPI sets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00" b="0">
                <a:solidFill>
                  <a:srgbClr val="423D63"/>
                </a:solidFill>
                <a:latin typeface="Segoe UI"/>
              </a:rPr>
              <a:t>Per-industry KPI definitions rendered into the prompt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600200"/>
            <a:ext cx="3474720" cy="3657600"/>
          </a:xfrm>
          <a:prstGeom prst="roundRect">
            <a:avLst/>
          </a:prstGeom>
          <a:solidFill>
            <a:srgbClr val="EFECFD"/>
          </a:solidFill>
          <a:ln w="12700">
            <a:solidFill>
              <a:srgbClr val="5A4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4A39CF"/>
                </a:solidFill>
                <a:latin typeface="Segoe UI"/>
              </a:rPr>
              <a:t>Maker-checker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150" b="0">
                <a:solidFill>
                  <a:srgbClr val="423D63"/>
                </a:solidFill>
                <a:latin typeface="Segoe UI"/>
              </a:rPr>
              <a:t>Every master is versioned. A maker drafts a new version; a different checker approves it (self-approval rejected).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50" b="0">
                <a:solidFill>
                  <a:srgbClr val="423D63"/>
                </a:solidFill>
                <a:latin typeface="Segoe UI"/>
              </a:rPr>
              <a:t>Only an approved/published version can be resolved by a run — otherwise the run refuses with </a:t>
            </a:r>
            <a:r>
              <a:rPr sz="1150" b="0">
                <a:solidFill>
                  <a:srgbClr val="423D63"/>
                </a:solidFill>
                <a:latin typeface="Consolas"/>
              </a:rPr>
              <a:t>not_published</a:t>
            </a:r>
            <a:r>
              <a:rPr sz="1150" b="0">
                <a:solidFill>
                  <a:srgbClr val="423D63"/>
                </a:solidFill>
                <a:latin typeface="Segoe U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36E93"/>
                </a:solidFill>
                <a:latin typeface="Consolas"/>
              </a:rPr>
              <a:t>CAM Platform · Technical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5F5FB"/>
          </a:solidFill>
          <a:ln w="12700">
            <a:solidFill>
              <a:srgbClr val="F5F5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5A48E0"/>
          </a:solidFill>
          <a:ln w="12700">
            <a:solidFill>
              <a:srgbClr val="5A4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5A48E0"/>
                </a:solidFill>
                <a:latin typeface="Consolas"/>
              </a:rPr>
              <a:t>INTAKE BEFORE GROUNDING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2700" b="1">
                <a:solidFill>
                  <a:srgbClr val="1B1740"/>
                </a:solidFill>
                <a:latin typeface="Segoe UI"/>
              </a:rPr>
              <a:t>Document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736E93"/>
                </a:solidFill>
                <a:latin typeface="Segoe UI"/>
              </a:rPr>
              <a:t>Every document — uploaded, pulled, or dropped into chat — passes the same intake.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2606040" cy="1371600"/>
          </a:xfrm>
          <a:prstGeom prst="roundRect">
            <a:avLst/>
          </a:prstGeom>
          <a:solidFill>
            <a:srgbClr val="FBF0DA"/>
          </a:solidFill>
          <a:ln w="12700">
            <a:solidFill>
              <a:srgbClr val="A969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A9690A"/>
                </a:solidFill>
                <a:latin typeface="Segoe UI"/>
              </a:rPr>
              <a:t>VAF intake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423D63"/>
                </a:solidFill>
                <a:latin typeface="Segoe UI"/>
              </a:rPr>
              <a:t>validate → AV scan → quarantine with a visible reason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337560" y="2880360"/>
            <a:ext cx="228600" cy="0"/>
          </a:xfrm>
          <a:prstGeom prst="line">
            <a:avLst/>
          </a:prstGeom>
          <a:ln w="22225">
            <a:solidFill>
              <a:srgbClr val="736E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66160" y="2194560"/>
            <a:ext cx="2606040" cy="1371600"/>
          </a:xfrm>
          <a:prstGeom prst="roundRect">
            <a:avLst/>
          </a:prstGeom>
          <a:solidFill>
            <a:srgbClr val="E7EDFD"/>
          </a:solidFill>
          <a:ln w="12700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2F5FE0"/>
                </a:solidFill>
                <a:latin typeface="Segoe UI"/>
              </a:rPr>
              <a:t>Extract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423D63"/>
                </a:solidFill>
                <a:latin typeface="Segoe UI"/>
              </a:rPr>
              <a:t>text extract to blob storage; DB holds only metadata + hashes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72200" y="2880360"/>
            <a:ext cx="228600" cy="0"/>
          </a:xfrm>
          <a:prstGeom prst="line">
            <a:avLst/>
          </a:prstGeom>
          <a:ln w="22225">
            <a:solidFill>
              <a:srgbClr val="736E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0" y="2194560"/>
            <a:ext cx="2606040" cy="1371600"/>
          </a:xfrm>
          <a:prstGeom prst="roundRect">
            <a:avLst/>
          </a:prstGeom>
          <a:solidFill>
            <a:srgbClr val="EFECFD"/>
          </a:solidFill>
          <a:ln w="12700">
            <a:solidFill>
              <a:srgbClr val="5A4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5A48E0"/>
                </a:solidFill>
                <a:latin typeface="Segoe UI"/>
              </a:rPr>
              <a:t>Tag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423D63"/>
                </a:solidFill>
                <a:latin typeface="Segoe UI"/>
              </a:rPr>
              <a:t>AI-first classify (keyword fallback); the method is audited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006840" y="2880360"/>
            <a:ext cx="228600" cy="0"/>
          </a:xfrm>
          <a:prstGeom prst="line">
            <a:avLst/>
          </a:prstGeom>
          <a:ln w="22225">
            <a:solidFill>
              <a:srgbClr val="736E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235440" y="2194560"/>
            <a:ext cx="2606040" cy="1371600"/>
          </a:xfrm>
          <a:prstGeom prst="roundRect">
            <a:avLst/>
          </a:prstGeom>
          <a:solidFill>
            <a:srgbClr val="E6F6EE"/>
          </a:solidFill>
          <a:ln w="12700">
            <a:solidFill>
              <a:srgbClr val="0F8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8A52"/>
                </a:solidFill>
                <a:latin typeface="Segoe UI"/>
              </a:rPr>
              <a:t>Index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423D63"/>
                </a:solidFill>
                <a:latin typeface="Segoe UI"/>
              </a:rPr>
              <a:t>if RAG on: chunk → embed → vector store / Azure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23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423D63"/>
                </a:solidFill>
                <a:latin typeface="Segoe UI"/>
              </a:rPr>
              <a:t>Quarantined content is never stored or used as grounding.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36E93"/>
                </a:solidFill>
                <a:latin typeface="Consolas"/>
              </a:rPr>
              <a:t>CAM Platform · Technical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5F5FB"/>
          </a:solidFill>
          <a:ln w="12700">
            <a:solidFill>
              <a:srgbClr val="F5F5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5A48E0"/>
          </a:solidFill>
          <a:ln w="12700">
            <a:solidFill>
              <a:srgbClr val="5A4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5A48E0"/>
                </a:solidFill>
                <a:latin typeface="Consolas"/>
              </a:rPr>
              <a:t>RESOLVE → DELIVER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2700" b="1">
                <a:solidFill>
                  <a:srgbClr val="1B1740"/>
                </a:solidFill>
                <a:latin typeface="Segoe UI"/>
              </a:rPr>
              <a:t>The generation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736E93"/>
                </a:solidFill>
                <a:latin typeface="Segoe UI"/>
              </a:rPr>
              <a:t>One job per section; a worker pool drives a four-agent pipeline through the GenAI gateway.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14173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B1740"/>
                </a:solidFill>
                <a:latin typeface="Segoe UI"/>
              </a:rPr>
              <a:t>1. Resolve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48840" y="2194560"/>
            <a:ext cx="118872" cy="0"/>
          </a:xfrm>
          <a:prstGeom prst="line">
            <a:avLst/>
          </a:prstGeom>
          <a:ln w="17780">
            <a:solidFill>
              <a:srgbClr val="736E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267712" y="1874519"/>
            <a:ext cx="14173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B1740"/>
                </a:solidFill>
                <a:latin typeface="Segoe UI"/>
              </a:rPr>
              <a:t>2. Snapshot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85032" y="2194560"/>
            <a:ext cx="118872" cy="0"/>
          </a:xfrm>
          <a:prstGeom prst="line">
            <a:avLst/>
          </a:prstGeom>
          <a:ln w="17780">
            <a:solidFill>
              <a:srgbClr val="736E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03904" y="1874519"/>
            <a:ext cx="14173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B1740"/>
                </a:solidFill>
                <a:latin typeface="Segoe UI"/>
              </a:rPr>
              <a:t>3. Queue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221224" y="2194560"/>
            <a:ext cx="118872" cy="0"/>
          </a:xfrm>
          <a:prstGeom prst="line">
            <a:avLst/>
          </a:prstGeom>
          <a:ln w="17780">
            <a:solidFill>
              <a:srgbClr val="736E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340096" y="1874519"/>
            <a:ext cx="14173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B1740"/>
                </a:solidFill>
                <a:latin typeface="Segoe UI"/>
              </a:rPr>
              <a:t>4. Admit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757416" y="2194560"/>
            <a:ext cx="118872" cy="0"/>
          </a:xfrm>
          <a:prstGeom prst="line">
            <a:avLst/>
          </a:prstGeom>
          <a:ln w="17780">
            <a:solidFill>
              <a:srgbClr val="736E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876288" y="1874519"/>
            <a:ext cx="1417320" cy="640080"/>
          </a:xfrm>
          <a:prstGeom prst="roundRect">
            <a:avLst/>
          </a:prstGeom>
          <a:solidFill>
            <a:srgbClr val="EFECFD"/>
          </a:solidFill>
          <a:ln w="12700">
            <a:solidFill>
              <a:srgbClr val="5A4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5A48E0"/>
                </a:solidFill>
                <a:latin typeface="Segoe UI"/>
              </a:rPr>
              <a:t>5. Pipeline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93608" y="2194560"/>
            <a:ext cx="118872" cy="0"/>
          </a:xfrm>
          <a:prstGeom prst="line">
            <a:avLst/>
          </a:prstGeom>
          <a:ln w="17780">
            <a:solidFill>
              <a:srgbClr val="736E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412480" y="1874519"/>
            <a:ext cx="14173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B1740"/>
                </a:solidFill>
                <a:latin typeface="Segoe UI"/>
              </a:rPr>
              <a:t>6. Check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829800" y="2194560"/>
            <a:ext cx="118872" cy="0"/>
          </a:xfrm>
          <a:prstGeom prst="line">
            <a:avLst/>
          </a:prstGeom>
          <a:ln w="17780">
            <a:solidFill>
              <a:srgbClr val="736E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948672" y="1874519"/>
            <a:ext cx="14173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B1740"/>
                </a:solidFill>
                <a:latin typeface="Segoe UI"/>
              </a:rPr>
              <a:t>7. Deliver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971800"/>
            <a:ext cx="52120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5A48E0"/>
                </a:solidFill>
                <a:latin typeface="Segoe UI"/>
              </a:rPr>
              <a:t>Extraction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00" b="0">
                <a:solidFill>
                  <a:srgbClr val="423D63"/>
                </a:solidFill>
                <a:latin typeface="Segoe UI"/>
              </a:rPr>
              <a:t>source-attributed facts from only the mapped docs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971800"/>
            <a:ext cx="52120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5A48E0"/>
                </a:solidFill>
                <a:latin typeface="Segoe UI"/>
              </a:rPr>
              <a:t>Summarisation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00" b="0">
                <a:solidFill>
                  <a:srgbClr val="423D63"/>
                </a:solidFill>
                <a:latin typeface="Segoe UI"/>
              </a:rPr>
              <a:t>drafts through the layered prompt + KPIs + style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023360"/>
            <a:ext cx="52120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5A48E0"/>
                </a:solidFill>
                <a:latin typeface="Segoe UI"/>
              </a:rPr>
              <a:t>Materiality check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00" b="0">
                <a:solidFill>
                  <a:srgbClr val="423D63"/>
                </a:solidFill>
                <a:latin typeface="Segoe UI"/>
              </a:rPr>
              <a:t>coverage verdict → bounded revision loop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023360"/>
            <a:ext cx="52120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5A48E0"/>
                </a:solidFill>
                <a:latin typeface="Segoe UI"/>
              </a:rPr>
              <a:t>Consistency check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00" b="0">
                <a:solidFill>
                  <a:srgbClr val="423D63"/>
                </a:solidFill>
                <a:latin typeface="Segoe UI"/>
              </a:rPr>
              <a:t>vs facts + other sections → revision loop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212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736E93"/>
                </a:solidFill>
                <a:latin typeface="Segoe UI"/>
              </a:rPr>
              <a:t>Every agent call is recorded in the section's </a:t>
            </a:r>
            <a:r>
              <a:rPr sz="1100" b="0">
                <a:solidFill>
                  <a:srgbClr val="736E93"/>
                </a:solidFill>
                <a:latin typeface="Consolas"/>
              </a:rPr>
              <a:t>agent_trace</a:t>
            </a:r>
            <a:r>
              <a:rPr sz="1100" b="0">
                <a:solidFill>
                  <a:srgbClr val="736E93"/>
                </a:solidFill>
                <a:latin typeface="Segoe UI"/>
              </a:rPr>
              <a:t>. Failures stay section-local: retry or regenerate one section.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36E93"/>
                </a:solidFill>
                <a:latin typeface="Consolas"/>
              </a:rPr>
              <a:t>CAM Platform · Technical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5F5FB"/>
          </a:solidFill>
          <a:ln w="12700">
            <a:solidFill>
              <a:srgbClr val="F5F5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5A48E0"/>
          </a:solidFill>
          <a:ln w="12700">
            <a:solidFill>
              <a:srgbClr val="5A4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5A48E0"/>
                </a:solidFill>
                <a:latin typeface="Consolas"/>
              </a:rPr>
              <a:t>DEEP DIVE · 1 OF 2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2700" b="1">
                <a:solidFill>
                  <a:srgbClr val="1B1740"/>
                </a:solidFill>
                <a:latin typeface="Segoe UI"/>
              </a:rPr>
              <a:t>Connectors — external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736E93"/>
                </a:solidFill>
                <a:latin typeface="Segoe UI"/>
              </a:rPr>
              <a:t>Client feeds (negative-news, web/market context) become grounding — the model never calls out itself.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2057400" cy="1554480"/>
          </a:xfrm>
          <a:prstGeom prst="roundRect">
            <a:avLst/>
          </a:prstGeom>
          <a:solidFill>
            <a:srgbClr val="EFECFD"/>
          </a:solidFill>
          <a:ln w="12700">
            <a:solidFill>
              <a:srgbClr val="5A4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5A48E0"/>
                </a:solidFill>
                <a:latin typeface="Segoe UI"/>
              </a:rPr>
              <a:t>Gate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23D63"/>
                </a:solidFill>
                <a:latin typeface="Segoe UI"/>
              </a:rPr>
              <a:t>section opts in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23D63"/>
                </a:solidFill>
                <a:latin typeface="Segoe UI"/>
              </a:rPr>
              <a:t>(uses_external_context)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23D63"/>
                </a:solidFill>
                <a:latin typeface="Segoe UI"/>
              </a:rPr>
              <a:t>AND admin toggle 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88920" y="2926080"/>
            <a:ext cx="182880" cy="0"/>
          </a:xfrm>
          <a:prstGeom prst="line">
            <a:avLst/>
          </a:prstGeom>
          <a:ln w="17780">
            <a:solidFill>
              <a:srgbClr val="736E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971800" y="2148840"/>
            <a:ext cx="20574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4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5A48E0"/>
                </a:solidFill>
                <a:latin typeface="Segoe UI"/>
              </a:rPr>
              <a:t>Fetch once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23D63"/>
                </a:solidFill>
                <a:latin typeface="Segoe UI"/>
              </a:rPr>
              <a:t>per run, keyed by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23D63"/>
                </a:solidFill>
                <a:latin typeface="Segoe UI"/>
              </a:rPr>
              <a:t>borrower + industry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0" y="2926080"/>
            <a:ext cx="182880" cy="0"/>
          </a:xfrm>
          <a:prstGeom prst="line">
            <a:avLst/>
          </a:prstGeom>
          <a:ln w="17780">
            <a:solidFill>
              <a:srgbClr val="736E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212080" y="2148840"/>
            <a:ext cx="2057400" cy="1554480"/>
          </a:xfrm>
          <a:prstGeom prst="roundRect">
            <a:avLst/>
          </a:prstGeom>
          <a:solidFill>
            <a:srgbClr val="FBF0DA"/>
          </a:solidFill>
          <a:ln w="12700">
            <a:solidFill>
              <a:srgbClr val="A969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A9690A"/>
                </a:solidFill>
                <a:latin typeface="Segoe UI"/>
              </a:rPr>
              <a:t>Call vendor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23D63"/>
                </a:solidFill>
                <a:latin typeface="Segoe UI"/>
              </a:rPr>
              <a:t>direct, out-of-gateway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23D63"/>
                </a:solidFill>
                <a:latin typeface="Segoe UI"/>
              </a:rPr>
              <a:t>X-Connector-Key ONLY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23D63"/>
                </a:solidFill>
                <a:latin typeface="Segoe UI"/>
              </a:rPr>
              <a:t>(or labelled MOCK)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926080"/>
            <a:ext cx="182880" cy="0"/>
          </a:xfrm>
          <a:prstGeom prst="line">
            <a:avLst/>
          </a:prstGeom>
          <a:ln w="17780">
            <a:solidFill>
              <a:srgbClr val="736E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452360" y="2148840"/>
            <a:ext cx="20574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4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5A48E0"/>
                </a:solidFill>
                <a:latin typeface="Segoe UI"/>
              </a:rPr>
              <a:t>Snapshot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23D63"/>
                </a:solidFill>
                <a:latin typeface="Segoe UI"/>
              </a:rPr>
              <a:t>into run.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23D63"/>
                </a:solidFill>
                <a:latin typeface="Segoe UI"/>
              </a:rPr>
              <a:t>connector_context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509760" y="2926080"/>
            <a:ext cx="182880" cy="0"/>
          </a:xfrm>
          <a:prstGeom prst="line">
            <a:avLst/>
          </a:prstGeom>
          <a:ln w="17780">
            <a:solidFill>
              <a:srgbClr val="736E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692640" y="2148840"/>
            <a:ext cx="2057400" cy="1554480"/>
          </a:xfrm>
          <a:prstGeom prst="roundRect">
            <a:avLst/>
          </a:prstGeom>
          <a:solidFill>
            <a:srgbClr val="E6F6EE"/>
          </a:solidFill>
          <a:ln w="12700">
            <a:solidFill>
              <a:srgbClr val="0F8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F8A52"/>
                </a:solidFill>
                <a:latin typeface="Segoe UI"/>
              </a:rPr>
              <a:t>Ground + disclose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23D63"/>
                </a:solidFill>
                <a:latin typeface="Segoe UI"/>
              </a:rPr>
              <a:t>opted-in sections read it;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23D63"/>
                </a:solidFill>
                <a:latin typeface="Segoe UI"/>
              </a:rPr>
              <a:t>shown in gap trailer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69080"/>
            <a:ext cx="10698480" cy="1234440"/>
          </a:xfrm>
          <a:prstGeom prst="roundRect">
            <a:avLst/>
          </a:prstGeom>
          <a:solidFill>
            <a:srgbClr val="FBF0DA"/>
          </a:solidFill>
          <a:ln w="12700">
            <a:solidFill>
              <a:srgbClr val="A969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A9690A"/>
                </a:solidFill>
                <a:latin typeface="Segoe UI"/>
              </a:rPr>
              <a:t>Isolated egress (why it's out-of-gateway)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>
                <a:solidFill>
                  <a:srgbClr val="423D63"/>
                </a:solidFill>
                <a:latin typeface="Segoe UI"/>
              </a:rPr>
              <a:t>A connector is a third-party host outside the bank gateway, so orchestration calls it directly with only its own connector key — never the internal service token. Handing a vendor a valid platform credential is precisely what this design avoids (NFR-06).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36E93"/>
                </a:solidFill>
                <a:latin typeface="Consolas"/>
              </a:rPr>
              <a:t>CAM Platform · Technical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5F5FB"/>
          </a:solidFill>
          <a:ln w="12700">
            <a:solidFill>
              <a:srgbClr val="F5F5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5A48E0"/>
          </a:solidFill>
          <a:ln w="12700">
            <a:solidFill>
              <a:srgbClr val="5A4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5A48E0"/>
                </a:solidFill>
                <a:latin typeface="Consolas"/>
              </a:rPr>
              <a:t>DEEP DIVE · 2 OF 2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2700" b="1">
                <a:solidFill>
                  <a:srgbClr val="1B1740"/>
                </a:solidFill>
                <a:latin typeface="Segoe UI"/>
              </a:rPr>
              <a:t>Connectors — properties &amp; configuration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5A48E0"/>
                </a:solidFill>
                <a:latin typeface="Segoe UI"/>
              </a:rPr>
              <a:t>Double-gated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00" b="0">
                <a:solidFill>
                  <a:srgbClr val="423D63"/>
                </a:solidFill>
                <a:latin typeface="Segoe UI"/>
              </a:rPr>
              <a:t>per-section opt-in AND admin master toggle (default off)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52120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F8A52"/>
                </a:solidFill>
                <a:latin typeface="Segoe UI"/>
              </a:rPr>
              <a:t>Fail-open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00" b="0">
                <a:solidFill>
                  <a:srgbClr val="423D63"/>
                </a:solidFill>
                <a:latin typeface="Segoe UI"/>
              </a:rPr>
              <a:t>any error/timeout/non-200 → empty; the run never fails on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97480"/>
            <a:ext cx="52120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F5FE0"/>
                </a:solidFill>
                <a:latin typeface="Segoe UI"/>
              </a:rPr>
              <a:t>Mock mode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00" b="0">
                <a:solidFill>
                  <a:srgbClr val="423D63"/>
                </a:solidFill>
                <a:latin typeface="Segoe UI"/>
              </a:rPr>
              <a:t>enabled but no URL → labelled MOCK item (offline demo/test)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697480"/>
            <a:ext cx="52120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D33B40"/>
                </a:solidFill>
                <a:latin typeface="Segoe UI"/>
              </a:rPr>
              <a:t>Injection-hardened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00" b="0">
                <a:solidFill>
                  <a:srgbClr val="423D63"/>
                </a:solidFill>
                <a:latin typeface="Segoe UI"/>
              </a:rPr>
              <a:t>labels stripped, count-capped, wrapped as inert document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3840480"/>
          <a:ext cx="10698480" cy="21945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4754880"/>
                <a:gridCol w="2286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Setting</a:t>
                      </a:r>
                    </a:p>
                  </a:txBody>
                  <a:tcPr marL="88900" marR="88900" marT="38100" marB="38100" anchor="ctr">
                    <a:solidFill>
                      <a:srgbClr val="5A48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Meaning</a:t>
                      </a:r>
                    </a:p>
                  </a:txBody>
                  <a:tcPr marL="88900" marR="88900" marT="38100" marB="38100" anchor="ctr">
                    <a:solidFill>
                      <a:srgbClr val="5A48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Default</a:t>
                      </a:r>
                    </a:p>
                  </a:txBody>
                  <a:tcPr marL="88900" marR="88900" marT="38100" marB="38100" anchor="ctr">
                    <a:solidFill>
                      <a:srgbClr val="5A48E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23D63"/>
                          </a:solidFill>
                          <a:latin typeface="Segoe UI"/>
                        </a:rPr>
                        <a:t>connectors_*_enabled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23D63"/>
                          </a:solidFill>
                          <a:latin typeface="Segoe UI"/>
                        </a:rPr>
                        <a:t>admin toggles (news / search)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23D63"/>
                          </a:solidFill>
                          <a:latin typeface="Segoe UI"/>
                        </a:rPr>
                        <a:t>off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23D63"/>
                          </a:solidFill>
                          <a:latin typeface="Segoe UI"/>
                        </a:rPr>
                        <a:t>CAM_CONNECTOR_*_URL</a:t>
                      </a:r>
                    </a:p>
                  </a:txBody>
                  <a:tcPr marL="88900" marR="88900" marT="38100" marB="38100" anchor="ctr">
                    <a:solidFill>
                      <a:srgbClr val="F5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23D63"/>
                          </a:solidFill>
                          <a:latin typeface="Segoe UI"/>
                        </a:rPr>
                        <a:t>vendor endpoints; empty → mock</a:t>
                      </a:r>
                    </a:p>
                  </a:txBody>
                  <a:tcPr marL="88900" marR="88900" marT="38100" marB="38100" anchor="ctr">
                    <a:solidFill>
                      <a:srgbClr val="F5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23D63"/>
                          </a:solidFill>
                          <a:latin typeface="Segoe UI"/>
                        </a:rPr>
                        <a:t>""</a:t>
                      </a:r>
                    </a:p>
                  </a:txBody>
                  <a:tcPr marL="88900" marR="88900" marT="38100" marB="38100" anchor="ctr">
                    <a:solidFill>
                      <a:srgbClr val="F5F5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23D63"/>
                          </a:solidFill>
                          <a:latin typeface="Segoe UI"/>
                        </a:rPr>
                        <a:t>CAM_CONNECTOR_API_KEY_ENV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23D63"/>
                          </a:solidFill>
                          <a:latin typeface="Segoe UI"/>
                        </a:rPr>
                        <a:t>name of the env var holding the key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23D63"/>
                          </a:solidFill>
                          <a:latin typeface="Segoe UI"/>
                        </a:rPr>
                        <a:t>CAM_CONNECTOR_API_KEY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23D63"/>
                          </a:solidFill>
                          <a:latin typeface="Segoe UI"/>
                        </a:rPr>
                        <a:t>CAM_CONNECTOR_TIMEOUT_SECONDS</a:t>
                      </a:r>
                    </a:p>
                  </a:txBody>
                  <a:tcPr marL="88900" marR="88900" marT="38100" marB="38100" anchor="ctr">
                    <a:solidFill>
                      <a:srgbClr val="F5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23D63"/>
                          </a:solidFill>
                          <a:latin typeface="Segoe UI"/>
                        </a:rPr>
                        <a:t>per-call timeout</a:t>
                      </a:r>
                    </a:p>
                  </a:txBody>
                  <a:tcPr marL="88900" marR="88900" marT="38100" marB="38100" anchor="ctr">
                    <a:solidFill>
                      <a:srgbClr val="F5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23D63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88900" marR="88900" marT="38100" marB="38100" anchor="ctr">
                    <a:solidFill>
                      <a:srgbClr val="F5F5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23D63"/>
                          </a:solidFill>
                          <a:latin typeface="Segoe UI"/>
                        </a:rPr>
                        <a:t>CAM_CONNECTOR_MAX_ITEMS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23D63"/>
                          </a:solidFill>
                          <a:latin typeface="Segoe UI"/>
                        </a:rPr>
                        <a:t>items kept per connector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23D63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601675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4A39CF"/>
                </a:solidFill>
                <a:latin typeface="Consolas"/>
              </a:rPr>
              <a:t>Vendor contract:  POST {borrower, industry, max_items} → {items:[{title, source, date, text|summary}]}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5F5FB"/>
          </a:solidFill>
          <a:ln w="12700">
            <a:solidFill>
              <a:srgbClr val="F5F5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5A48E0"/>
          </a:solidFill>
          <a:ln w="12700">
            <a:solidFill>
              <a:srgbClr val="5A4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5A48E0"/>
                </a:solidFill>
                <a:latin typeface="Consolas"/>
              </a:rPr>
              <a:t>LARGE DOCUMENTS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2700" b="1">
                <a:solidFill>
                  <a:srgbClr val="1B1740"/>
                </a:solidFill>
                <a:latin typeface="Segoe UI"/>
              </a:rPr>
              <a:t>Retrieval /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736E93"/>
                </a:solidFill>
                <a:latin typeface="Segoe UI"/>
              </a:rPr>
              <a:t>For big files, grounding is retrieved rather than whole-document.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A48E0"/>
                </a:solidFill>
                <a:latin typeface="Segoe UI"/>
              </a:rPr>
              <a:t>Three modes (rag_mode)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200" b="0">
                <a:solidFill>
                  <a:srgbClr val="423D63"/>
                </a:solidFill>
                <a:latin typeface="Segoe UI"/>
              </a:rPr>
              <a:t>off — whole-document grounding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200" b="0">
                <a:solidFill>
                  <a:srgbClr val="423D63"/>
                </a:solidFill>
                <a:latin typeface="Segoe UI"/>
              </a:rPr>
              <a:t>keyword — BM25 / lexical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200" b="0">
                <a:solidFill>
                  <a:srgbClr val="423D63"/>
                </a:solidFill>
                <a:latin typeface="Segoe UI"/>
              </a:rPr>
              <a:t>embedding — vector similarity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3736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A48E0"/>
                </a:solidFill>
                <a:latin typeface="Segoe UI"/>
              </a:rPr>
              <a:t>Backends (CAM_RETRIEVAL_BACKEND)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200" b="0">
                <a:solidFill>
                  <a:srgbClr val="423D63"/>
                </a:solidFill>
                <a:latin typeface="Segoe UI"/>
              </a:rPr>
              <a:t>local — in-DB vector / lexical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200" b="0">
                <a:solidFill>
                  <a:srgbClr val="423D63"/>
                </a:solidFill>
                <a:latin typeface="Segoe UI"/>
              </a:rPr>
              <a:t>azure_search — Azure AI Search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200" b="0">
                <a:solidFill>
                  <a:srgbClr val="423D63"/>
                </a:solidFill>
                <a:latin typeface="Segoe UI"/>
              </a:rPr>
              <a:t>one /retrieve contract either 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3756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A48E0"/>
                </a:solidFill>
                <a:latin typeface="Segoe UI"/>
              </a:rPr>
              <a:t>Embedding egress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200" b="0">
                <a:solidFill>
                  <a:srgbClr val="423D63"/>
                </a:solidFill>
                <a:latin typeface="Segoe UI"/>
              </a:rPr>
              <a:t>centralised at genai /embed (service-token only)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200" b="0">
                <a:solidFill>
                  <a:srgbClr val="423D63"/>
                </a:solidFill>
                <a:latin typeface="Segoe UI"/>
              </a:rPr>
              <a:t>OpenAI-compatible · Azure · local hash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33756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A48E0"/>
                </a:solidFill>
                <a:latin typeface="Segoe UI"/>
              </a:rPr>
              <a:t>Provenance &amp; fallback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200" b="0">
                <a:solidFill>
                  <a:srgbClr val="423D63"/>
                </a:solidFill>
                <a:latin typeface="Segoe UI"/>
              </a:rPr>
              <a:t>top-K passages recorded per section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200" b="0">
                <a:solidFill>
                  <a:srgbClr val="423D63"/>
                </a:solidFill>
                <a:latin typeface="Segoe UI"/>
              </a:rPr>
              <a:t>unreachable / unindexed → whole-doc fallback (never a hard failure)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36E93"/>
                </a:solidFill>
                <a:latin typeface="Consolas"/>
              </a:rPr>
              <a:t>CAM Platform · Technical Architecture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5F5FB"/>
          </a:solidFill>
          <a:ln w="12700">
            <a:solidFill>
              <a:srgbClr val="F5F5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5A48E0"/>
          </a:solidFill>
          <a:ln w="12700">
            <a:solidFill>
              <a:srgbClr val="5A4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5A48E0"/>
                </a:solidFill>
                <a:latin typeface="Consolas"/>
              </a:rPr>
              <a:t>THE ONLY COMPONENT THAT TALKS TO A MODEL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2700" b="1">
                <a:solidFill>
                  <a:srgbClr val="1B1740"/>
                </a:solidFill>
                <a:latin typeface="Segoe UI"/>
              </a:rPr>
              <a:t>GenAI gateway &amp; providers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736E93"/>
                </a:solidFill>
                <a:latin typeface="Segoe UI"/>
              </a:rPr>
              <a:t>Service identities only — the gateway also blocks end-user tokens at the edge.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A48E0"/>
                </a:solidFill>
                <a:latin typeface="Segoe UI"/>
              </a:rPr>
              <a:t>Assembly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50" b="0">
                <a:solidFill>
                  <a:srgbClr val="423D63"/>
                </a:solidFill>
                <a:latin typeface="Segoe UI"/>
              </a:rPr>
              <a:t>layered prompt (house → standing rules → template → section); grounding wrapped in inert document blocks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79191"/>
            <a:ext cx="1069848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A48E0"/>
                </a:solidFill>
                <a:latin typeface="Segoe UI"/>
              </a:rPr>
              <a:t>Providers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50" b="0">
                <a:solidFill>
                  <a:srgbClr val="423D63"/>
                </a:solidFill>
                <a:latin typeface="Segoe UI"/>
              </a:rPr>
              <a:t>mock · anthropic · openai (any OpenAI-compatible) · azure — swappable at runtime; keys by env-var name 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21024"/>
            <a:ext cx="1069848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A48E0"/>
                </a:solidFill>
                <a:latin typeface="Segoe UI"/>
              </a:rPr>
              <a:t>Task endpoints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50" b="0">
                <a:solidFill>
                  <a:srgbClr val="423D63"/>
                </a:solidFill>
                <a:latin typeface="Segoe UI"/>
              </a:rPr>
              <a:t>generate · extract · materiality · consistency · reconcile · classify · embed · edit (+ token accounting)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62856"/>
            <a:ext cx="1069848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A48E0"/>
                </a:solidFill>
                <a:latin typeface="Segoe UI"/>
              </a:rPr>
              <a:t>Deterministic backstop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50" b="0">
                <a:solidFill>
                  <a:srgbClr val="423D63"/>
                </a:solidFill>
                <a:latin typeface="Segoe UI"/>
              </a:rPr>
              <a:t>numeric/date traceability flags that no prompt can disable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36E93"/>
                </a:solidFill>
                <a:latin typeface="Consolas"/>
              </a:rPr>
              <a:t>CAM Platform · Technical Architecture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5F5FB"/>
          </a:solidFill>
          <a:ln w="12700">
            <a:solidFill>
              <a:srgbClr val="F5F5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5A48E0"/>
          </a:solidFill>
          <a:ln w="12700">
            <a:solidFill>
              <a:srgbClr val="5A4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5A48E0"/>
                </a:solidFill>
                <a:latin typeface="Consolas"/>
              </a:rPr>
              <a:t>TWO INDEPENDENT LEVERS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2700" b="1">
                <a:solidFill>
                  <a:srgbClr val="1B1740"/>
                </a:solidFill>
                <a:latin typeface="Segoe UI"/>
              </a:rPr>
              <a:t>Queue &amp; concurrency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A48E0"/>
                </a:solidFill>
                <a:latin typeface="Segoe UI"/>
              </a:rPr>
              <a:t>Section concurrency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200" b="0">
                <a:solidFill>
                  <a:srgbClr val="423D63"/>
                </a:solidFill>
                <a:latin typeface="Consolas"/>
              </a:rPr>
              <a:t>worker_concurrency</a:t>
            </a:r>
            <a:r>
              <a:rPr sz="1200" b="0">
                <a:solidFill>
                  <a:srgbClr val="423D63"/>
                </a:solidFill>
                <a:latin typeface="Segoe UI"/>
              </a:rPr>
              <a:t> — how many sections draft in parallel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200" b="0">
                <a:solidFill>
                  <a:srgbClr val="423D63"/>
                </a:solidFill>
                <a:latin typeface="Segoe UI"/>
              </a:rPr>
              <a:t>clamped to the worker pool spawned at deploy (</a:t>
            </a:r>
            <a:r>
              <a:rPr sz="1200" b="0">
                <a:solidFill>
                  <a:srgbClr val="423D63"/>
                </a:solidFill>
                <a:latin typeface="Consolas"/>
              </a:rPr>
              <a:t>CAM_WORKER_POOL_SIZE</a:t>
            </a:r>
            <a:r>
              <a:rPr sz="1200" b="0">
                <a:solidFill>
                  <a:srgbClr val="423D63"/>
                </a:solidFill>
                <a:latin typeface="Segoe UI"/>
              </a:rPr>
              <a:t>)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200" b="0">
                <a:solidFill>
                  <a:srgbClr val="423D63"/>
                </a:solidFill>
                <a:latin typeface="Segoe UI"/>
              </a:rPr>
              <a:t>applies at runtime, no restart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828800"/>
            <a:ext cx="52120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A48E0"/>
                </a:solidFill>
                <a:latin typeface="Segoe UI"/>
              </a:rPr>
              <a:t>Run concurrency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200" b="0">
                <a:solidFill>
                  <a:srgbClr val="423D63"/>
                </a:solidFill>
                <a:latin typeface="Consolas"/>
              </a:rPr>
              <a:t>max_concurrent_runs</a:t>
            </a:r>
            <a:r>
              <a:rPr sz="1200" b="0">
                <a:solidFill>
                  <a:srgbClr val="423D63"/>
                </a:solidFill>
                <a:latin typeface="Segoe UI"/>
              </a:rPr>
              <a:t> (default 4)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200" b="0">
                <a:solidFill>
                  <a:srgbClr val="423D63"/>
                </a:solidFill>
                <a:latin typeface="Segoe UI"/>
              </a:rPr>
              <a:t>a burst is ACCEPTED and queued — never 429'd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200" b="0">
                <a:solidFill>
                  <a:srgbClr val="423D63"/>
                </a:solidFill>
                <a:latin typeface="Segoe UI"/>
              </a:rPr>
              <a:t>admitted FIFO as slots free; per-user fairness cap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10698480" cy="914400"/>
          </a:xfrm>
          <a:prstGeom prst="roundRect">
            <a:avLst/>
          </a:prstGeom>
          <a:solidFill>
            <a:srgbClr val="F5F5FB"/>
          </a:solidFill>
          <a:ln w="12700">
            <a:solidFill>
              <a:srgbClr val="D6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423D63"/>
                </a:solidFill>
                <a:latin typeface="Segoe UI"/>
              </a:rPr>
              <a:t>Claims are serialised in-process by a lock and, across processes on PostgreSQL, by SELECT … FOR UPDATE SKIP LOCKED — so workers never double-process; stuck claims are reaped by lease timeout.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36E93"/>
                </a:solidFill>
                <a:latin typeface="Consolas"/>
              </a:rPr>
              <a:t>CAM Platform · Technical Architecture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5F5FB"/>
          </a:solidFill>
          <a:ln w="12700">
            <a:solidFill>
              <a:srgbClr val="F5F5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5A48E0"/>
          </a:solidFill>
          <a:ln w="12700">
            <a:solidFill>
              <a:srgbClr val="5A4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5A48E0"/>
                </a:solidFill>
                <a:latin typeface="Consolas"/>
              </a:rPr>
              <a:t>THE ANALYST STAYS IN CONTROL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2700" b="1">
                <a:solidFill>
                  <a:srgbClr val="1B1740"/>
                </a:solidFill>
                <a:latin typeface="Segoe UI"/>
              </a:rPr>
              <a:t>Human-in-the-loop editing &amp; notifications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A48E0"/>
                </a:solidFill>
                <a:latin typeface="Segoe UI"/>
              </a:rPr>
              <a:t>Editing (output service owns the working copy)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50" b="0">
                <a:solidFill>
                  <a:srgbClr val="423D63"/>
                </a:solidFill>
                <a:latin typeface="Segoe UI"/>
              </a:rPr>
              <a:t>Per-section versions (autosave, named versions, diffs, optimistic locking).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50" b="0">
                <a:solidFill>
                  <a:srgbClr val="423D63"/>
                </a:solidFill>
                <a:latin typeface="Segoe UI"/>
              </a:rPr>
              <a:t>Chat replies land as PENDING suggestions with a diff — accepted/rejected explicitly, never auto-applied.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50" b="0">
                <a:solidFill>
                  <a:srgbClr val="423D63"/>
                </a:solidFill>
                <a:latin typeface="Segoe UI"/>
              </a:rPr>
              <a:t>In-chat uploads pass the same VAF + tagging pipeline; finalisation blocked while a suggestion is pending; drafts watermarked.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29000"/>
            <a:ext cx="106984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6200" rIns="762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A48E0"/>
                </a:solidFill>
                <a:latin typeface="Segoe UI"/>
              </a:rPr>
              <a:t>Notifications (on any terminal run state, best-effort)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50" b="0">
                <a:solidFill>
                  <a:srgbClr val="423D63"/>
                </a:solidFill>
                <a:latin typeface="Segoe UI"/>
              </a:rPr>
              <a:t>In-app — a per-user bell that polls unread and deep-links to the run.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50" b="0">
                <a:solidFill>
                  <a:srgbClr val="423D63"/>
                </a:solidFill>
                <a:latin typeface="Segoe UI"/>
              </a:rPr>
              <a:t>Email — gated by a master toggle; sent on a background thread (a slow relay never stalls the worker).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50" b="0">
                <a:solidFill>
                  <a:srgbClr val="423D63"/>
                </a:solidFill>
                <a:latin typeface="Segoe UI"/>
              </a:rPr>
              <a:t>No SMTP host configured → the mailer logs instead of sending; password read from an env var by name (NFR-06).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36E93"/>
                </a:solidFill>
                <a:latin typeface="Consolas"/>
              </a:rPr>
              <a:t>CAM Platform · Technical Architecture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5F5FB"/>
          </a:solidFill>
          <a:ln w="12700">
            <a:solidFill>
              <a:srgbClr val="F5F5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5A48E0"/>
          </a:solidFill>
          <a:ln w="12700">
            <a:solidFill>
              <a:srgbClr val="5A4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5A48E0"/>
                </a:solidFill>
                <a:latin typeface="Consolas"/>
              </a:rPr>
              <a:t>FAIL-OPEN AT THE EDGES, FAIL-CLOSED AT THE CORE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2700" b="1">
                <a:solidFill>
                  <a:srgbClr val="1B1740"/>
                </a:solidFill>
                <a:latin typeface="Segoe UI"/>
              </a:rPr>
              <a:t>Security model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91640"/>
          <a:ext cx="10698479" cy="3291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3200"/>
                <a:gridCol w="7955279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Concern</a:t>
                      </a:r>
                    </a:p>
                  </a:txBody>
                  <a:tcPr marL="88900" marR="88900" marT="38100" marB="38100" anchor="ctr">
                    <a:solidFill>
                      <a:srgbClr val="5A48E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Mechanism</a:t>
                      </a:r>
                    </a:p>
                  </a:txBody>
                  <a:tcPr marL="88900" marR="88900" marT="38100" marB="38100" anchor="ctr">
                    <a:solidFill>
                      <a:srgbClr val="5A48E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23D63"/>
                          </a:solidFill>
                          <a:latin typeface="Segoe UI"/>
                        </a:rPr>
                        <a:t>Identity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23D63"/>
                          </a:solidFill>
                          <a:latin typeface="Segoe UI"/>
                        </a:rPr>
                        <a:t>short-lived HS256 JWTs (dev IdP stub); production swaps one auth-adapter for the bank IdP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23D63"/>
                          </a:solidFill>
                          <a:latin typeface="Segoe UI"/>
                        </a:rPr>
                        <a:t>Authorisation</a:t>
                      </a:r>
                    </a:p>
                  </a:txBody>
                  <a:tcPr marL="88900" marR="88900" marT="38100" marB="38100" anchor="ctr">
                    <a:solidFill>
                      <a:srgbClr val="F5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23D63"/>
                          </a:solidFill>
                          <a:latin typeface="Segoe UI"/>
                        </a:rPr>
                        <a:t>single role → capability matrix in every service; analysts own-scoped</a:t>
                      </a:r>
                    </a:p>
                  </a:txBody>
                  <a:tcPr marL="88900" marR="88900" marT="38100" marB="38100" anchor="ctr">
                    <a:solidFill>
                      <a:srgbClr val="F5F5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23D63"/>
                          </a:solidFill>
                          <a:latin typeface="Segoe UI"/>
                        </a:rPr>
                        <a:t>Model-plane closure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23D63"/>
                          </a:solidFill>
                          <a:latin typeface="Segoe UI"/>
                        </a:rPr>
                        <a:t>/api/genai accepts service tokens only; gateway rejects user tokens at the edge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23D63"/>
                          </a:solidFill>
                          <a:latin typeface="Segoe UI"/>
                        </a:rPr>
                        <a:t>Connector isolation</a:t>
                      </a:r>
                    </a:p>
                  </a:txBody>
                  <a:tcPr marL="88900" marR="88900" marT="38100" marB="38100" anchor="ctr">
                    <a:solidFill>
                      <a:srgbClr val="F5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23D63"/>
                          </a:solidFill>
                          <a:latin typeface="Segoe UI"/>
                        </a:rPr>
                        <a:t>third-party feeds get only their connector key, never the internal service token</a:t>
                      </a:r>
                    </a:p>
                  </a:txBody>
                  <a:tcPr marL="88900" marR="88900" marT="38100" marB="38100" anchor="ctr">
                    <a:solidFill>
                      <a:srgbClr val="F5F5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23D63"/>
                          </a:solidFill>
                          <a:latin typeface="Segoe UI"/>
                        </a:rPr>
                        <a:t>Secrets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23D63"/>
                          </a:solidFill>
                          <a:latin typeface="Segoe UI"/>
                        </a:rPr>
                        <a:t>env/vault only; keys &amp; SMTP password by env-var NAME, never on Settings or in logs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23D63"/>
                          </a:solidFill>
                          <a:latin typeface="Segoe UI"/>
                        </a:rPr>
                        <a:t>Prompt injection</a:t>
                      </a:r>
                    </a:p>
                  </a:txBody>
                  <a:tcPr marL="88900" marR="88900" marT="38100" marB="38100" anchor="ctr">
                    <a:solidFill>
                      <a:srgbClr val="F5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23D63"/>
                          </a:solidFill>
                          <a:latin typeface="Segoe UI"/>
                        </a:rPr>
                        <a:t>all grounding sanitised + wrapped in inert document blocks; docs marked as data</a:t>
                      </a:r>
                    </a:p>
                  </a:txBody>
                  <a:tcPr marL="88900" marR="88900" marT="38100" marB="38100" anchor="ctr">
                    <a:solidFill>
                      <a:srgbClr val="F5F5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23D63"/>
                          </a:solidFill>
                          <a:latin typeface="Segoe UI"/>
                        </a:rPr>
                        <a:t>Malware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23D63"/>
                          </a:solidFill>
                          <a:latin typeface="Segoe UI"/>
                        </a:rPr>
                        <a:t>VAF: validate → AV scan → quarantine with visible reason; never stored/used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23D63"/>
                          </a:solidFill>
                          <a:latin typeface="Segoe UI"/>
                        </a:rPr>
                        <a:t>Tamper evidence</a:t>
                      </a:r>
                    </a:p>
                  </a:txBody>
                  <a:tcPr marL="88900" marR="88900" marT="38100" marB="38100" anchor="ctr">
                    <a:solidFill>
                      <a:srgbClr val="F5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23D63"/>
                          </a:solidFill>
                          <a:latin typeface="Segoe UI"/>
                        </a:rPr>
                        <a:t>audit events hash-chained sha256(prev + canonical(event)) + verify-chain</a:t>
                      </a:r>
                    </a:p>
                  </a:txBody>
                  <a:tcPr marL="88900" marR="88900" marT="38100" marB="38100" anchor="ctr">
                    <a:solidFill>
                      <a:srgbClr val="F5F5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36E93"/>
                </a:solidFill>
                <a:latin typeface="Consolas"/>
              </a:rPr>
              <a:t>CAM Platform · Technical Architecture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5F5FB"/>
          </a:solidFill>
          <a:ln w="12700">
            <a:solidFill>
              <a:srgbClr val="F5F5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5A48E0"/>
          </a:solidFill>
          <a:ln w="12700">
            <a:solidFill>
              <a:srgbClr val="5A4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5A48E0"/>
                </a:solidFill>
                <a:latin typeface="Consolas"/>
              </a:rPr>
              <a:t>ONE CODEBASE, SEVERAL TARGETS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2700" b="1">
                <a:solidFill>
                  <a:srgbClr val="1B1740"/>
                </a:solidFill>
                <a:latin typeface="Segoe UI"/>
              </a:rPr>
              <a:t>Deployment — Linux &amp; Windows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736E93"/>
                </a:solidFill>
                <a:latin typeface="Segoe UI"/>
              </a:rPr>
              <a:t>Selected by environment, not by code. Gateway (and the built SPA) on :8080.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698480" cy="694944"/>
          </a:xfrm>
          <a:prstGeom prst="roundRect">
            <a:avLst/>
          </a:prstGeom>
          <a:solidFill>
            <a:srgbClr val="EFECFD"/>
          </a:solidFill>
          <a:ln w="12700">
            <a:solidFill>
              <a:srgbClr val="5A4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5A48E0"/>
                </a:solidFill>
                <a:latin typeface="Segoe UI"/>
              </a:rPr>
              <a:t>One-click dev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00" b="0">
                <a:solidFill>
                  <a:srgbClr val="423D63"/>
                </a:solidFill>
                <a:latin typeface="Segoe UI"/>
              </a:rPr>
              <a:t>Windows: start-windows.bat · Linux/macOS: ./start-linux.sh → venv + UI + seed + stack + browser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10698480" cy="694944"/>
          </a:xfrm>
          <a:prstGeom prst="roundRect">
            <a:avLst/>
          </a:prstGeom>
          <a:solidFill>
            <a:srgbClr val="E6F6EE"/>
          </a:solidFill>
          <a:ln w="12700">
            <a:solidFill>
              <a:srgbClr val="0F8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F8A52"/>
                </a:solidFill>
                <a:latin typeface="Segoe UI"/>
              </a:rPr>
              <a:t>Linux service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00" b="0">
                <a:solidFill>
                  <a:srgbClr val="423D63"/>
                </a:solidFill>
                <a:latin typeface="Segoe UI"/>
              </a:rPr>
              <a:t>systemd unit (deploy/systemd/) supervising run_stack.py; restart-on-failure; SIGTERM-clean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694944"/>
          </a:xfrm>
          <a:prstGeom prst="roundRect">
            <a:avLst/>
          </a:prstGeom>
          <a:solidFill>
            <a:srgbClr val="E7EDFD"/>
          </a:solidFill>
          <a:ln w="12700">
            <a:solidFill>
              <a:srgbClr val="2F5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F5FE0"/>
                </a:solidFill>
                <a:latin typeface="Segoe UI"/>
              </a:rPr>
              <a:t>Windows service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00" b="0">
                <a:solidFill>
                  <a:srgbClr val="423D63"/>
                </a:solidFill>
                <a:latin typeface="Segoe UI"/>
              </a:rPr>
              <a:t>boot Scheduled Task (deploy/windows/, built-in) or NSSM for a true SCM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10698480" cy="694944"/>
          </a:xfrm>
          <a:prstGeom prst="roundRect">
            <a:avLst/>
          </a:prstGeom>
          <a:solidFill>
            <a:srgbClr val="EFECFD"/>
          </a:solidFill>
          <a:ln w="12700">
            <a:solidFill>
              <a:srgbClr val="5A4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5A48E0"/>
                </a:solidFill>
                <a:latin typeface="Segoe UI"/>
              </a:rPr>
              <a:t>Containers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00" b="0">
                <a:solidFill>
                  <a:srgbClr val="423D63"/>
                </a:solidFill>
                <a:latin typeface="Segoe UI"/>
              </a:rPr>
              <a:t>docker compose — PostgreSQL + one container per service; scale orchestration horizontally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00600"/>
            <a:ext cx="10698480" cy="694944"/>
          </a:xfrm>
          <a:prstGeom prst="roundRect">
            <a:avLst/>
          </a:prstGeom>
          <a:solidFill>
            <a:srgbClr val="FBF0DA"/>
          </a:solidFill>
          <a:ln w="12700">
            <a:solidFill>
              <a:srgbClr val="A969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A9690A"/>
                </a:solidFill>
                <a:latin typeface="Segoe UI"/>
              </a:rPr>
              <a:t>Cloud / bank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00" b="0">
                <a:solidFill>
                  <a:srgbClr val="423D63"/>
                </a:solidFill>
                <a:latin typeface="Segoe UI"/>
              </a:rPr>
              <a:t>Azure OpenAI · Azure AI Search · Azure Blob by env; behind the real APIM + bank IdP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736E93"/>
                </a:solidFill>
                <a:latin typeface="Consolas"/>
              </a:rPr>
              <a:t>CAM Platform · Technical Architecture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B1740"/>
          </a:solidFill>
          <a:ln w="12700">
            <a:solidFill>
              <a:srgbClr val="1B1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4577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B9AFFF"/>
                </a:solidFill>
                <a:latin typeface="Consolas"/>
              </a:rPr>
              <a:t>Grounded · reproducible · auditable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CAM Platform</a:t>
            </a:r>
          </a:p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400" b="0">
                <a:solidFill>
                  <a:srgbClr val="CFCBF0"/>
                </a:solidFill>
                <a:latin typeface="Segoe UI"/>
              </a:rPr>
              <a:t>Full detail: docs/architecture.md · docs/DEPLOYMENT.md · docs/contracts.md · docs/traceability.md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